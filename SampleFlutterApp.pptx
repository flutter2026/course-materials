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0C1A9-811C-A5A2-8037-C08470D9AE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DF8CA6-C692-7BFE-9737-766AD1007A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B4A16-0351-DA8B-40FB-68461ECDD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E7C47-4DE9-2F4D-B15B-17C496284BA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87088-3F36-D1AE-05C2-21CE6DD9A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975AC-9853-65CF-C90A-B5A9B7F62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F7257-9455-F24E-A5C3-5408E970C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355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5ED5F-1A13-83BE-B53B-7F8A20344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46982-65A8-4B18-2337-81E19F193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141DF-3DEE-842F-3DB7-8D7F17C9E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E7C47-4DE9-2F4D-B15B-17C496284BA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2C1F3-C055-B650-26D6-BE0F6CEED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11992-DF49-6157-3BAE-EAB0C808B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F7257-9455-F24E-A5C3-5408E970C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513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B3F84-9541-A408-815A-325A0FE2D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7CE07-758F-250E-4D76-633AEF1F5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29018-DEAE-01B2-2570-DC242BAE2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E7C47-4DE9-2F4D-B15B-17C496284BA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957C2-8BF8-BAA7-5199-22DEA69C7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AB6CA-B3D2-9C30-225A-A4F1202E3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F7257-9455-F24E-A5C3-5408E970C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845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AC456-737F-E9D3-4B93-08CEDE932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F68CE-4C27-8FE2-BC14-4B63E3456D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176F3-1B40-FD39-3A65-388772CE83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078B99-8E59-D831-09F8-F9B989A2A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E7C47-4DE9-2F4D-B15B-17C496284BA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4A56CA-62B9-0C78-FFEB-2529D07FC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422AC-D8EF-9F63-1B60-12BEDE14B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F7257-9455-F24E-A5C3-5408E970C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76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A0A86-6FE7-FA48-4851-30E3608ED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9E218-606D-8B8B-DB17-735E43E48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C5EA16-7AE5-DDC2-E674-C8A8AC7CE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064C33-F5F4-0D70-8B05-B76A887CF9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7D5F3D-F3D7-5930-52FB-4063BEF9D4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1EC50-F865-F92D-1B97-E6957E411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E7C47-4DE9-2F4D-B15B-17C496284BA4}" type="datetimeFigureOut">
              <a:rPr lang="en-US" smtClean="0"/>
              <a:t>9/3/26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63A426-B9B9-5F43-789D-530BAB566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228251-8AEA-19D2-9E87-B87892F44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F7257-9455-F24E-A5C3-5408E970C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392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97BB1-AF85-D710-0725-5F988DC76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7D8BFC-4FBA-49CA-5C1B-EA0724EB0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E7C47-4DE9-2F4D-B15B-17C496284BA4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827887-C407-E71B-1787-8EDF81C89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4EA198-D6EA-E5FC-C849-5805454A2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F7257-9455-F24E-A5C3-5408E970C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820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719663-BFB9-BAC5-BE55-C1188A7D8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E7C47-4DE9-2F4D-B15B-17C496284BA4}" type="datetimeFigureOut">
              <a:rPr lang="en-US" smtClean="0"/>
              <a:t>9/3/26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BEBBE2-B731-5397-1111-9F1F75674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C6602-702E-846E-CF61-9663463F1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F7257-9455-F24E-A5C3-5408E970C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539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B3B88-F1DB-FC28-A913-835C0E5CE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2DFC6-DCF6-1CEB-9A7A-73953B913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2A7DD6-88C0-89BC-9B53-7743B6E561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A2EEBC-593F-3312-4841-CA903BE8F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E7C47-4DE9-2F4D-B15B-17C496284BA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A10575-6570-6934-E219-CE493AE05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363B25-1FF8-ACC8-6C38-6AD8224AB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F7257-9455-F24E-A5C3-5408E970C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378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B7B62-556D-AB6E-6261-FD9772C99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13F7A4-3C31-7C8B-2C1B-7CB2D430D0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93622C-30ED-5E3A-E1A6-A3CE12E04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3A74C-E1D8-FBA5-845A-B30F0669C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E7C47-4DE9-2F4D-B15B-17C496284BA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9502A-F70E-3B07-35E9-A5552B528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8AC38E-3193-5290-61AF-1949FE1AA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F7257-9455-F24E-A5C3-5408E970C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142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34F60-A811-B4D7-CFD8-7D94149BB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7CA127-69A9-7085-B517-309FE1076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5B30C-6AAA-C537-BBBA-1198ED81C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E7C47-4DE9-2F4D-B15B-17C496284BA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AD95D-AAD6-B8D2-ECE4-272300A9C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3158E-41E1-1313-4C6D-1E42E585E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F7257-9455-F24E-A5C3-5408E970C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834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026345-DD33-C687-575A-FDD14038FB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C57F03-2815-C87D-BF08-5AF7F95072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AFECA-BD75-7A9F-C1B0-0D69686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E7C47-4DE9-2F4D-B15B-17C496284BA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732E5-F0A2-32C4-1EB2-2DDC214C3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0EE21-943F-C8BB-7134-6EDB972CC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F7257-9455-F24E-A5C3-5408E970C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24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8F30AE-E3D0-9C08-AD21-154FF54C3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1AE4C4-7E0F-420B-9AD0-D7DA0BA82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EDFA6-9C45-CF0E-F4BE-0A396E1BC8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5E7C47-4DE9-2F4D-B15B-17C496284BA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D0779-4045-489D-E2F4-892CFB559A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2F9FD-6607-EE91-732B-7B63282E52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F7257-9455-F24E-A5C3-5408E970C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648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29AEE-6844-75D1-A102-C14B407BCD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Sample Flutter App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99B3EE-F533-6BCD-9A0A-51B8919CF9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120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76605-ADE6-D481-C8C8-0B6C85EAF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031" y="66101"/>
            <a:ext cx="10515600" cy="5582052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latin typeface="Inconsolata" pitchFamily="49" charset="77"/>
                <a:ea typeface="Inconsolata" pitchFamily="49" charset="77"/>
              </a:rPr>
              <a:t>import '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package:flutter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/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material.dart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';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void main() {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runApp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(const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MyApp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());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}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class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MyApp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 extends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StatelessWidget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 {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const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MyApp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({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super.key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});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br>
              <a:rPr lang="en-US" sz="2200" i="1" dirty="0">
                <a:latin typeface="Inconsolata" pitchFamily="49" charset="77"/>
                <a:ea typeface="Inconsolata" pitchFamily="49" charset="77"/>
              </a:rPr>
            </a:br>
            <a:r>
              <a:rPr lang="en-US" sz="2200" i="1" dirty="0">
                <a:latin typeface="Inconsolata" pitchFamily="49" charset="77"/>
                <a:ea typeface="Inconsolata" pitchFamily="49" charset="77"/>
              </a:rPr>
              <a:t>  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@override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Widget build(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BuildContext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 context) {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  return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MaterialApp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(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title: 'Flutter Demo',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theme: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ThemeData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(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 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colorScheme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: .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fromSeed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(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seedColor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: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Colors.</a:t>
            </a:r>
            <a:r>
              <a:rPr lang="en-US" sz="2200" i="1" dirty="0" err="1">
                <a:latin typeface="Inconsolata" pitchFamily="49" charset="77"/>
                <a:ea typeface="Inconsolata" pitchFamily="49" charset="77"/>
              </a:rPr>
              <a:t>deepPurple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),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),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home: const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MyHomePage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(title: 'Flutter Demo Home Page'),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  );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}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}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endParaRPr lang="en-US" sz="2200" dirty="0">
              <a:latin typeface="Inconsolata" pitchFamily="49" charset="77"/>
              <a:ea typeface="Inconsolata" pitchFamily="49" charset="7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200" dirty="0">
              <a:latin typeface="Inconsolata" pitchFamily="49" charset="77"/>
              <a:ea typeface="Inconsolata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A4B832-55D0-A948-5A60-E64A63EF9084}"/>
              </a:ext>
            </a:extLst>
          </p:cNvPr>
          <p:cNvSpPr txBox="1"/>
          <p:nvPr/>
        </p:nvSpPr>
        <p:spPr>
          <a:xfrm>
            <a:off x="7028761" y="97307"/>
            <a:ext cx="54753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iOS, you can use</a:t>
            </a:r>
            <a:br>
              <a:rPr lang="en-US" dirty="0"/>
            </a:br>
            <a:r>
              <a:rPr lang="en-US" dirty="0">
                <a:latin typeface="Inconsolata" pitchFamily="49" charset="77"/>
                <a:ea typeface="Inconsolata" pitchFamily="49" charset="77"/>
              </a:rPr>
              <a:t>import '</a:t>
            </a:r>
            <a:r>
              <a:rPr lang="en-US" dirty="0" err="1">
                <a:latin typeface="Inconsolata" pitchFamily="49" charset="77"/>
                <a:ea typeface="Inconsolata" pitchFamily="49" charset="77"/>
              </a:rPr>
              <a:t>package:flutter</a:t>
            </a:r>
            <a:r>
              <a:rPr lang="en-US" dirty="0">
                <a:latin typeface="Inconsolata" pitchFamily="49" charset="77"/>
                <a:ea typeface="Inconsolata" pitchFamily="49" charset="77"/>
              </a:rPr>
              <a:t>/</a:t>
            </a:r>
            <a:r>
              <a:rPr lang="en-US" dirty="0" err="1">
                <a:latin typeface="Inconsolata" pitchFamily="49" charset="77"/>
                <a:ea typeface="Inconsolata" pitchFamily="49" charset="77"/>
              </a:rPr>
              <a:t>cupertino.dart</a:t>
            </a:r>
            <a:r>
              <a:rPr lang="en-US" dirty="0">
                <a:latin typeface="Inconsolata" pitchFamily="49" charset="77"/>
                <a:ea typeface="Inconsolata" pitchFamily="49" charset="77"/>
              </a:rPr>
              <a:t>';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74AC25B-9571-CF09-A98D-7D4C2CAA85E8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6389783" y="319489"/>
            <a:ext cx="638978" cy="1009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16DD2C7-FA04-0CB5-264B-7DF65F59D292}"/>
              </a:ext>
            </a:extLst>
          </p:cNvPr>
          <p:cNvCxnSpPr>
            <a:cxnSpLocks/>
          </p:cNvCxnSpPr>
          <p:nvPr/>
        </p:nvCxnSpPr>
        <p:spPr>
          <a:xfrm flipH="1">
            <a:off x="4316776" y="1209847"/>
            <a:ext cx="2392496" cy="883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6A14045-65E6-55B1-70B1-8FFCA6818D32}"/>
              </a:ext>
            </a:extLst>
          </p:cNvPr>
          <p:cNvCxnSpPr>
            <a:cxnSpLocks/>
          </p:cNvCxnSpPr>
          <p:nvPr/>
        </p:nvCxnSpPr>
        <p:spPr>
          <a:xfrm flipH="1">
            <a:off x="2375971" y="1377108"/>
            <a:ext cx="4333301" cy="7545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4BF5855-BC30-440F-3CD6-90CF1A40BE05}"/>
              </a:ext>
            </a:extLst>
          </p:cNvPr>
          <p:cNvSpPr txBox="1"/>
          <p:nvPr/>
        </p:nvSpPr>
        <p:spPr>
          <a:xfrm>
            <a:off x="6808424" y="1113488"/>
            <a:ext cx="5475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Run the app described in the </a:t>
            </a:r>
            <a:r>
              <a:rPr lang="en-US" dirty="0" err="1">
                <a:latin typeface="Inconsolata" pitchFamily="49" charset="77"/>
                <a:ea typeface="Inconsolata" pitchFamily="49" charset="77"/>
              </a:rPr>
              <a:t>MyApp</a:t>
            </a:r>
            <a:r>
              <a:rPr lang="en-US" dirty="0"/>
              <a:t> class.</a:t>
            </a:r>
            <a:endParaRPr lang="en-US" dirty="0">
              <a:latin typeface="Inconsolata" pitchFamily="49" charset="77"/>
              <a:ea typeface="Inconsolata" pitchFamily="49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B2C43E-31F4-B24E-1F68-2F3C93DD5AE3}"/>
              </a:ext>
            </a:extLst>
          </p:cNvPr>
          <p:cNvSpPr txBox="1"/>
          <p:nvPr/>
        </p:nvSpPr>
        <p:spPr>
          <a:xfrm>
            <a:off x="6940626" y="1902975"/>
            <a:ext cx="54753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stateful widget stores some information as it runs. (That information may change during the run.)</a:t>
            </a:r>
          </a:p>
          <a:p>
            <a:r>
              <a:rPr lang="en-US" dirty="0">
                <a:ea typeface="Inconsolata" pitchFamily="49" charset="77"/>
              </a:rPr>
              <a:t>A stateless widget doesn’t have any information that might change, so none needs to be stored.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7CF217A-F0C7-3939-4663-EFD8035F4D3A}"/>
              </a:ext>
            </a:extLst>
          </p:cNvPr>
          <p:cNvCxnSpPr>
            <a:cxnSpLocks/>
          </p:cNvCxnSpPr>
          <p:nvPr/>
        </p:nvCxnSpPr>
        <p:spPr>
          <a:xfrm flipH="1" flipV="1">
            <a:off x="5985831" y="2357610"/>
            <a:ext cx="822593" cy="334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AFB9504-75A5-5FD0-1E56-DAAAAA9C58A3}"/>
              </a:ext>
            </a:extLst>
          </p:cNvPr>
          <p:cNvCxnSpPr>
            <a:cxnSpLocks/>
          </p:cNvCxnSpPr>
          <p:nvPr/>
        </p:nvCxnSpPr>
        <p:spPr>
          <a:xfrm flipH="1">
            <a:off x="1081489" y="6624767"/>
            <a:ext cx="38210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EC9D6DF-A8CD-D6F1-1BDF-1ECAC3DA4A1E}"/>
              </a:ext>
            </a:extLst>
          </p:cNvPr>
          <p:cNvSpPr txBox="1"/>
          <p:nvPr/>
        </p:nvSpPr>
        <p:spPr>
          <a:xfrm>
            <a:off x="4902506" y="6400455"/>
            <a:ext cx="5475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End of the </a:t>
            </a:r>
            <a:r>
              <a:rPr lang="en-US" dirty="0" err="1">
                <a:latin typeface="Inconsolata" pitchFamily="49" charset="77"/>
                <a:ea typeface="Inconsolata" pitchFamily="49" charset="77"/>
              </a:rPr>
              <a:t>MyApp</a:t>
            </a:r>
            <a:r>
              <a:rPr lang="en-US" dirty="0"/>
              <a:t> class declaration.</a:t>
            </a:r>
            <a:endParaRPr lang="en-US" dirty="0">
              <a:latin typeface="Inconsolata" pitchFamily="49" charset="77"/>
              <a:ea typeface="Inconsolata" pitchFamily="49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9869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CF9C2-F400-0A74-16F7-B9DD18B4E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2F35C-F1F8-A237-267A-30AC43F76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031" y="66101"/>
            <a:ext cx="10515600" cy="5582052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latin typeface="Inconsolata" pitchFamily="49" charset="77"/>
                <a:ea typeface="Inconsolata" pitchFamily="49" charset="77"/>
              </a:rPr>
              <a:t>import '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package:flutter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/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material.dart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';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void main() {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runApp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(const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MyApp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());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}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class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MyApp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 extends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StatelessWidget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 {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const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MyApp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({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super.key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});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br>
              <a:rPr lang="en-US" sz="2200" i="1" dirty="0">
                <a:latin typeface="Inconsolata" pitchFamily="49" charset="77"/>
                <a:ea typeface="Inconsolata" pitchFamily="49" charset="77"/>
              </a:rPr>
            </a:br>
            <a:r>
              <a:rPr lang="en-US" sz="2200" i="1" dirty="0">
                <a:latin typeface="Inconsolata" pitchFamily="49" charset="77"/>
                <a:ea typeface="Inconsolata" pitchFamily="49" charset="77"/>
              </a:rPr>
              <a:t>  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@override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Widget build(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BuildContext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 context) {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  return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MaterialApp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(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title: 'Flutter Demo',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theme: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ThemeData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(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 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colorScheme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: .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fromSeed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(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seedColor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: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Colors.</a:t>
            </a:r>
            <a:r>
              <a:rPr lang="en-US" sz="2200" i="1" dirty="0" err="1">
                <a:latin typeface="Inconsolata" pitchFamily="49" charset="77"/>
                <a:ea typeface="Inconsolata" pitchFamily="49" charset="77"/>
              </a:rPr>
              <a:t>deepPurple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),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),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home: const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MyHomePage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(title: 'Flutter Demo Home Page'),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  );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}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}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endParaRPr lang="en-US" sz="2200" dirty="0">
              <a:latin typeface="Inconsolata" pitchFamily="49" charset="77"/>
              <a:ea typeface="Inconsolata" pitchFamily="49" charset="7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200" dirty="0">
              <a:latin typeface="Inconsolata" pitchFamily="49" charset="77"/>
              <a:ea typeface="Inconsolata" pitchFamily="49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D329D7-A2EB-57E6-0A4E-0F930AA6461F}"/>
              </a:ext>
            </a:extLst>
          </p:cNvPr>
          <p:cNvSpPr txBox="1"/>
          <p:nvPr/>
        </p:nvSpPr>
        <p:spPr>
          <a:xfrm>
            <a:off x="6808424" y="609682"/>
            <a:ext cx="54753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Flutter SDK defines a class named </a:t>
            </a:r>
            <a:r>
              <a:rPr lang="en-US" dirty="0" err="1">
                <a:latin typeface="Inconsolata" pitchFamily="49" charset="77"/>
                <a:ea typeface="Inconsolata" pitchFamily="49" charset="77"/>
              </a:rPr>
              <a:t>StatelessWidget</a:t>
            </a:r>
            <a:r>
              <a:rPr lang="en-US" dirty="0"/>
              <a:t>. The </a:t>
            </a:r>
            <a:r>
              <a:rPr lang="en-US" dirty="0" err="1">
                <a:latin typeface="Inconsolata" pitchFamily="49" charset="77"/>
                <a:ea typeface="Inconsolata" pitchFamily="49" charset="77"/>
              </a:rPr>
              <a:t>MyApp</a:t>
            </a:r>
            <a:r>
              <a:rPr lang="en-US" dirty="0"/>
              <a:t> class inherits the definitions in </a:t>
            </a:r>
            <a:r>
              <a:rPr lang="en-US" dirty="0" err="1">
                <a:latin typeface="Inconsolata" pitchFamily="49" charset="77"/>
                <a:ea typeface="Inconsolata" pitchFamily="49" charset="77"/>
              </a:rPr>
              <a:t>StatelessWidget</a:t>
            </a:r>
            <a:r>
              <a:rPr lang="en-US" dirty="0"/>
              <a:t>, adds some new definitions, and overrides some of the existing </a:t>
            </a:r>
            <a:r>
              <a:rPr lang="en-US" dirty="0" err="1">
                <a:latin typeface="Inconsolata" pitchFamily="49" charset="77"/>
                <a:ea typeface="Inconsolata" pitchFamily="49" charset="77"/>
              </a:rPr>
              <a:t>StatelessWidget</a:t>
            </a:r>
            <a:r>
              <a:rPr lang="en-US" dirty="0"/>
              <a:t> definitions.</a:t>
            </a:r>
            <a:endParaRPr lang="en-US" dirty="0">
              <a:ea typeface="Inconsolata" pitchFamily="49" charset="77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B135E3A-6085-9298-0515-10E545045609}"/>
              </a:ext>
            </a:extLst>
          </p:cNvPr>
          <p:cNvCxnSpPr>
            <a:cxnSpLocks/>
          </p:cNvCxnSpPr>
          <p:nvPr/>
        </p:nvCxnSpPr>
        <p:spPr>
          <a:xfrm flipH="1">
            <a:off x="4318612" y="1209846"/>
            <a:ext cx="2401677" cy="9164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C33E94A-3769-B6A1-FB50-BD8909EC3589}"/>
              </a:ext>
            </a:extLst>
          </p:cNvPr>
          <p:cNvSpPr txBox="1"/>
          <p:nvPr/>
        </p:nvSpPr>
        <p:spPr>
          <a:xfrm>
            <a:off x="6916757" y="2271393"/>
            <a:ext cx="54753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Overriding the </a:t>
            </a:r>
            <a:r>
              <a:rPr lang="en-US" dirty="0" err="1">
                <a:latin typeface="Inconsolata" pitchFamily="49" charset="77"/>
                <a:ea typeface="Inconsolata" pitchFamily="49" charset="77"/>
              </a:rPr>
              <a:t>StatelessWidget</a:t>
            </a:r>
            <a:r>
              <a:rPr lang="en-US" dirty="0"/>
              <a:t> class’s </a:t>
            </a:r>
            <a:r>
              <a:rPr lang="en-US" dirty="0">
                <a:latin typeface="Inconsolata" pitchFamily="49" charset="77"/>
                <a:ea typeface="Inconsolata" pitchFamily="49" charset="77"/>
              </a:rPr>
              <a:t>build</a:t>
            </a:r>
            <a:r>
              <a:rPr lang="en-US" dirty="0"/>
              <a:t> definition. Describing how to build this widget on the phone’s screen. This method gets called automatically. You never call it in your code.</a:t>
            </a:r>
            <a:endParaRPr lang="en-US" dirty="0">
              <a:ea typeface="Inconsolata" pitchFamily="49" charset="77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F79C689-4D9D-8CD6-3BC5-239DDF2E7735}"/>
              </a:ext>
            </a:extLst>
          </p:cNvPr>
          <p:cNvCxnSpPr>
            <a:cxnSpLocks/>
          </p:cNvCxnSpPr>
          <p:nvPr/>
        </p:nvCxnSpPr>
        <p:spPr>
          <a:xfrm flipH="1">
            <a:off x="2555913" y="2733058"/>
            <a:ext cx="4252511" cy="7478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44CD2E5-43D1-6692-020A-969CEDE29DFA}"/>
              </a:ext>
            </a:extLst>
          </p:cNvPr>
          <p:cNvCxnSpPr>
            <a:cxnSpLocks/>
          </p:cNvCxnSpPr>
          <p:nvPr/>
        </p:nvCxnSpPr>
        <p:spPr>
          <a:xfrm flipH="1" flipV="1">
            <a:off x="5056742" y="3816666"/>
            <a:ext cx="1961003" cy="1604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CEE322F-154D-6726-7CD9-BCE3207D0AE4}"/>
              </a:ext>
            </a:extLst>
          </p:cNvPr>
          <p:cNvSpPr txBox="1"/>
          <p:nvPr/>
        </p:nvSpPr>
        <p:spPr>
          <a:xfrm>
            <a:off x="7017745" y="3656105"/>
            <a:ext cx="457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Flutter calls the </a:t>
            </a:r>
            <a:r>
              <a:rPr lang="en-US" dirty="0">
                <a:latin typeface="Inconsolata" pitchFamily="49" charset="77"/>
                <a:ea typeface="Inconsolata" pitchFamily="49" charset="77"/>
              </a:rPr>
              <a:t>build</a:t>
            </a:r>
            <a:r>
              <a:rPr lang="en-US" dirty="0"/>
              <a:t> method, it sends an object to the method (a context). This context object contains information about any other things in the app.</a:t>
            </a:r>
            <a:endParaRPr lang="en-US" dirty="0">
              <a:ea typeface="Inconsolata" pitchFamily="49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71864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440E5-70BD-98A1-E3C2-E10273969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1219E-D034-8D6E-9C9A-2C6A62440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031" y="66101"/>
            <a:ext cx="10515600" cy="5582052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latin typeface="Inconsolata" pitchFamily="49" charset="77"/>
                <a:ea typeface="Inconsolata" pitchFamily="49" charset="77"/>
              </a:rPr>
              <a:t>import '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package:flutter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/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material.dart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';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void main() {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runApp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(const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MyApp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());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}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class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MyApp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 extends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StatelessWidget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 {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const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MyApp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({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super.key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});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br>
              <a:rPr lang="en-US" sz="2200" i="1" dirty="0">
                <a:latin typeface="Inconsolata" pitchFamily="49" charset="77"/>
                <a:ea typeface="Inconsolata" pitchFamily="49" charset="77"/>
              </a:rPr>
            </a:br>
            <a:r>
              <a:rPr lang="en-US" sz="2200" i="1" dirty="0">
                <a:latin typeface="Inconsolata" pitchFamily="49" charset="77"/>
                <a:ea typeface="Inconsolata" pitchFamily="49" charset="77"/>
              </a:rPr>
              <a:t>  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@override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Widget build(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BuildContext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 context) {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  return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MaterialApp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(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title: 'Flutter Demo',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theme: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ThemeData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(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 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colorScheme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: .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fromSeed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(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seedColor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: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Colors.</a:t>
            </a:r>
            <a:r>
              <a:rPr lang="en-US" sz="2200" i="1" dirty="0" err="1">
                <a:latin typeface="Inconsolata" pitchFamily="49" charset="77"/>
                <a:ea typeface="Inconsolata" pitchFamily="49" charset="77"/>
              </a:rPr>
              <a:t>deepPurple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),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),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home: const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MyHomePage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(title: 'Flutter Demo Home Page'),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  );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}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}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endParaRPr lang="en-US" sz="2200" dirty="0">
              <a:latin typeface="Inconsolata" pitchFamily="49" charset="77"/>
              <a:ea typeface="Inconsolata" pitchFamily="49" charset="7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200" dirty="0">
              <a:latin typeface="Inconsolata" pitchFamily="49" charset="77"/>
              <a:ea typeface="Inconsolata" pitchFamily="49" charset="77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2F15EFC-EC85-17D4-D546-5C031E6E4886}"/>
              </a:ext>
            </a:extLst>
          </p:cNvPr>
          <p:cNvCxnSpPr>
            <a:cxnSpLocks/>
          </p:cNvCxnSpPr>
          <p:nvPr/>
        </p:nvCxnSpPr>
        <p:spPr>
          <a:xfrm flipH="1">
            <a:off x="4784992" y="2082188"/>
            <a:ext cx="2166651" cy="13019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D4762F5D-5E16-1EB4-AAE5-AA6BBE551F02}"/>
              </a:ext>
            </a:extLst>
          </p:cNvPr>
          <p:cNvSpPr/>
          <p:nvPr/>
        </p:nvSpPr>
        <p:spPr>
          <a:xfrm>
            <a:off x="969484" y="3429000"/>
            <a:ext cx="8835528" cy="31370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C7D104-F0BC-A460-A504-2BC8B76C308A}"/>
              </a:ext>
            </a:extLst>
          </p:cNvPr>
          <p:cNvSpPr txBox="1"/>
          <p:nvPr/>
        </p:nvSpPr>
        <p:spPr>
          <a:xfrm>
            <a:off x="5948190" y="612781"/>
            <a:ext cx="6158429" cy="1477328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In the Dart programming language, a method typically has the form</a:t>
            </a:r>
          </a:p>
          <a:p>
            <a:r>
              <a:rPr lang="en-US" dirty="0" err="1">
                <a:latin typeface="Inconsolata" pitchFamily="49" charset="77"/>
                <a:ea typeface="Inconsolata" pitchFamily="49" charset="77"/>
              </a:rPr>
              <a:t>ReturnType</a:t>
            </a:r>
            <a:r>
              <a:rPr lang="en-US" dirty="0">
                <a:latin typeface="Inconsolata" pitchFamily="49" charset="77"/>
                <a:ea typeface="Inconsolata" pitchFamily="49" charset="77"/>
              </a:rPr>
              <a:t> </a:t>
            </a:r>
            <a:r>
              <a:rPr lang="en-US" dirty="0" err="1">
                <a:latin typeface="Inconsolata" pitchFamily="49" charset="77"/>
                <a:ea typeface="Inconsolata" pitchFamily="49" charset="77"/>
              </a:rPr>
              <a:t>methodName</a:t>
            </a:r>
            <a:r>
              <a:rPr lang="en-US" dirty="0">
                <a:latin typeface="Inconsolata" pitchFamily="49" charset="77"/>
                <a:ea typeface="Inconsolata" pitchFamily="49" charset="77"/>
              </a:rPr>
              <a:t>(parameters) {</a:t>
            </a:r>
          </a:p>
          <a:p>
            <a:r>
              <a:rPr lang="en-US" dirty="0">
                <a:latin typeface="Inconsolata" pitchFamily="49" charset="77"/>
                <a:ea typeface="Inconsolata" pitchFamily="49" charset="77"/>
              </a:rPr>
              <a:t>    statements to execute when the method is called;</a:t>
            </a:r>
          </a:p>
          <a:p>
            <a:r>
              <a:rPr lang="en-US" dirty="0">
                <a:latin typeface="Inconsolata" pitchFamily="49" charset="77"/>
                <a:ea typeface="Inconsolata" pitchFamily="49" charset="7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2167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9446B-688A-B8EE-BABF-99DB7C466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40086-6C3E-38D8-9224-729CE13F9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662" y="1244906"/>
            <a:ext cx="10515600" cy="4109292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Widget build(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BuildContext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 context) {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  return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MaterialApp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(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title: 'Flutter Demo',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theme: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ThemeData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(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 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colorScheme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: .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fromSeed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(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seedColor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: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Colors.</a:t>
            </a:r>
            <a:r>
              <a:rPr lang="en-US" sz="2200" i="1" dirty="0" err="1">
                <a:latin typeface="Inconsolata" pitchFamily="49" charset="77"/>
                <a:ea typeface="Inconsolata" pitchFamily="49" charset="77"/>
              </a:rPr>
              <a:t>deepPurple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),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),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home: const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MyHomePage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(title: 'Flutter Demo Home Page'),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  );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}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}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DE895B6-0C5C-6D60-5FAA-F5AD3B6C174E}"/>
              </a:ext>
            </a:extLst>
          </p:cNvPr>
          <p:cNvCxnSpPr>
            <a:cxnSpLocks/>
          </p:cNvCxnSpPr>
          <p:nvPr/>
        </p:nvCxnSpPr>
        <p:spPr>
          <a:xfrm flipH="1">
            <a:off x="3426245" y="2139281"/>
            <a:ext cx="22694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294DFE1-9E6D-BA34-E121-942B512CA374}"/>
              </a:ext>
            </a:extLst>
          </p:cNvPr>
          <p:cNvSpPr txBox="1"/>
          <p:nvPr/>
        </p:nvSpPr>
        <p:spPr>
          <a:xfrm>
            <a:off x="5822414" y="1954615"/>
            <a:ext cx="615842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ea typeface="Inconsolata" pitchFamily="49" charset="77"/>
              </a:rPr>
              <a:t>Calling the constructor of the </a:t>
            </a:r>
            <a:r>
              <a:rPr lang="en-US" dirty="0" err="1">
                <a:latin typeface="Inconsolata" pitchFamily="49" charset="77"/>
                <a:ea typeface="Inconsolata" pitchFamily="49" charset="77"/>
              </a:rPr>
              <a:t>MaterialApp</a:t>
            </a:r>
            <a:r>
              <a:rPr lang="en-US" dirty="0">
                <a:ea typeface="Inconsolata" pitchFamily="49" charset="77"/>
              </a:rPr>
              <a:t> class.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B8B2340-6997-B540-6FFA-58643A0C9B6C}"/>
              </a:ext>
            </a:extLst>
          </p:cNvPr>
          <p:cNvCxnSpPr>
            <a:cxnSpLocks/>
          </p:cNvCxnSpPr>
          <p:nvPr/>
        </p:nvCxnSpPr>
        <p:spPr>
          <a:xfrm flipH="1" flipV="1">
            <a:off x="6279615" y="4235814"/>
            <a:ext cx="583893" cy="4517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47D5F6D6-3C62-82BD-4093-A9AE130CC218}"/>
              </a:ext>
            </a:extLst>
          </p:cNvPr>
          <p:cNvSpPr/>
          <p:nvPr/>
        </p:nvSpPr>
        <p:spPr>
          <a:xfrm>
            <a:off x="914400" y="2291508"/>
            <a:ext cx="3216925" cy="3745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62074D-9C89-5FC2-A59B-FF4B3534E36D}"/>
              </a:ext>
            </a:extLst>
          </p:cNvPr>
          <p:cNvSpPr/>
          <p:nvPr/>
        </p:nvSpPr>
        <p:spPr>
          <a:xfrm>
            <a:off x="914399" y="2710190"/>
            <a:ext cx="7910112" cy="914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0DA9D8-B8D7-85C5-1F28-8C8D01EDEF1A}"/>
              </a:ext>
            </a:extLst>
          </p:cNvPr>
          <p:cNvSpPr/>
          <p:nvPr/>
        </p:nvSpPr>
        <p:spPr>
          <a:xfrm>
            <a:off x="914399" y="3668630"/>
            <a:ext cx="7987230" cy="3945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FEEA77-355B-1613-19E0-65A967F81D78}"/>
              </a:ext>
            </a:extLst>
          </p:cNvPr>
          <p:cNvSpPr txBox="1"/>
          <p:nvPr/>
        </p:nvSpPr>
        <p:spPr>
          <a:xfrm>
            <a:off x="4869455" y="4754033"/>
            <a:ext cx="6158429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ea typeface="Inconsolata" pitchFamily="49" charset="77"/>
              </a:rPr>
              <a:t>The </a:t>
            </a:r>
            <a:r>
              <a:rPr lang="en-US" dirty="0" err="1">
                <a:latin typeface="Inconsolata" pitchFamily="49" charset="77"/>
                <a:ea typeface="Inconsolata" pitchFamily="49" charset="77"/>
              </a:rPr>
              <a:t>MaterialApp</a:t>
            </a:r>
            <a:r>
              <a:rPr lang="en-US" dirty="0">
                <a:ea typeface="Inconsolata" pitchFamily="49" charset="77"/>
              </a:rPr>
              <a:t> class’s constructor has 38 parameters, three of which are used in this constructor call. In this example, each parameter has a name (such as </a:t>
            </a:r>
            <a:r>
              <a:rPr lang="en-US" dirty="0">
                <a:latin typeface="Inconsolata" pitchFamily="49" charset="77"/>
                <a:ea typeface="Inconsolata" pitchFamily="49" charset="77"/>
              </a:rPr>
              <a:t>title</a:t>
            </a:r>
            <a:r>
              <a:rPr lang="en-US" dirty="0">
                <a:ea typeface="Inconsolata" pitchFamily="49" charset="77"/>
              </a:rPr>
              <a:t>) and a value (such as </a:t>
            </a:r>
            <a:r>
              <a:rPr lang="en-US" dirty="0">
                <a:latin typeface="Inconsolata" pitchFamily="49" charset="77"/>
                <a:ea typeface="Inconsolata" pitchFamily="49" charset="77"/>
              </a:rPr>
              <a:t>‘Flutter Demo’</a:t>
            </a:r>
            <a:r>
              <a:rPr lang="en-US" dirty="0">
                <a:ea typeface="Inconsolata" pitchFamily="49" charset="77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538516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612CC-6A28-996A-935C-EFBD12CC3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CAFEB-4264-0F0F-41D8-B8E3FE9DE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662" y="1244906"/>
            <a:ext cx="10515600" cy="4109292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Widget build(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BuildContext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 context) {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  return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MaterialApp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(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title: 'Flutter Demo',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theme: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ThemeData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(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 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colorScheme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: .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fromSeed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(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seedColor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: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Colors.</a:t>
            </a:r>
            <a:r>
              <a:rPr lang="en-US" sz="2200" i="1" dirty="0" err="1">
                <a:latin typeface="Inconsolata" pitchFamily="49" charset="77"/>
                <a:ea typeface="Inconsolata" pitchFamily="49" charset="77"/>
              </a:rPr>
              <a:t>deepPurple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),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),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home: const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MyHomePage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(title: 'Flutter Demo Home Page'),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  );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  }</a:t>
            </a:r>
            <a:br>
              <a:rPr lang="en-US" sz="2200" dirty="0">
                <a:latin typeface="Inconsolata" pitchFamily="49" charset="77"/>
                <a:ea typeface="Inconsolata" pitchFamily="49" charset="77"/>
              </a:rPr>
            </a:br>
            <a:r>
              <a:rPr lang="en-US" sz="2200" dirty="0">
                <a:latin typeface="Inconsolata" pitchFamily="49" charset="77"/>
                <a:ea typeface="Inconsolata" pitchFamily="49" charset="77"/>
              </a:rPr>
              <a:t>}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>
              <a:latin typeface="Inconsolata" pitchFamily="49" charset="77"/>
              <a:ea typeface="Inconsolata" pitchFamily="49" charset="7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latin typeface="Inconsolata" pitchFamily="49" charset="77"/>
                <a:ea typeface="Inconsolata" pitchFamily="49" charset="77"/>
              </a:rPr>
              <a:t>class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MyHomePage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 extends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StatefulWidget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latin typeface="Inconsolata" pitchFamily="49" charset="77"/>
                <a:ea typeface="Inconsolata" pitchFamily="49" charset="77"/>
              </a:rPr>
              <a:t>  const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MyHomePage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({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super.key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, required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this.title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});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latin typeface="Inconsolata" pitchFamily="49" charset="77"/>
                <a:ea typeface="Inconsolata" pitchFamily="49" charset="77"/>
              </a:rPr>
              <a:t>  final String title;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>
              <a:latin typeface="Inconsolata" pitchFamily="49" charset="77"/>
              <a:ea typeface="Inconsolata" pitchFamily="49" charset="77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BFD047F-3CCE-31D1-ACEA-477FAD1971FA}"/>
              </a:ext>
            </a:extLst>
          </p:cNvPr>
          <p:cNvCxnSpPr>
            <a:cxnSpLocks/>
          </p:cNvCxnSpPr>
          <p:nvPr/>
        </p:nvCxnSpPr>
        <p:spPr>
          <a:xfrm flipH="1">
            <a:off x="6709272" y="2016087"/>
            <a:ext cx="484742" cy="5728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C40F910-9D0B-C3CC-505D-6178A85A90E9}"/>
              </a:ext>
            </a:extLst>
          </p:cNvPr>
          <p:cNvSpPr/>
          <p:nvPr/>
        </p:nvSpPr>
        <p:spPr>
          <a:xfrm>
            <a:off x="914400" y="2291508"/>
            <a:ext cx="3216925" cy="3745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C692C1-BA34-5CA3-42D2-11F2850329E0}"/>
              </a:ext>
            </a:extLst>
          </p:cNvPr>
          <p:cNvSpPr/>
          <p:nvPr/>
        </p:nvSpPr>
        <p:spPr>
          <a:xfrm>
            <a:off x="914399" y="2710190"/>
            <a:ext cx="7910112" cy="914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B0FDFB-9841-6EA9-504E-56447E2DC91F}"/>
              </a:ext>
            </a:extLst>
          </p:cNvPr>
          <p:cNvSpPr/>
          <p:nvPr/>
        </p:nvSpPr>
        <p:spPr>
          <a:xfrm>
            <a:off x="914399" y="3668630"/>
            <a:ext cx="7987230" cy="3945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574B69-7A0B-130A-9269-EA7C72BFA1BD}"/>
              </a:ext>
            </a:extLst>
          </p:cNvPr>
          <p:cNvSpPr txBox="1"/>
          <p:nvPr/>
        </p:nvSpPr>
        <p:spPr>
          <a:xfrm>
            <a:off x="5822414" y="472144"/>
            <a:ext cx="6158429" cy="14773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ea typeface="Inconsolata" pitchFamily="49" charset="77"/>
              </a:rPr>
              <a:t>For the </a:t>
            </a:r>
            <a:r>
              <a:rPr lang="en-US" dirty="0">
                <a:latin typeface="Inconsolata" pitchFamily="49" charset="77"/>
                <a:ea typeface="Inconsolata" pitchFamily="49" charset="77"/>
              </a:rPr>
              <a:t>theme</a:t>
            </a:r>
            <a:r>
              <a:rPr lang="en-US" dirty="0">
                <a:ea typeface="Inconsolata" pitchFamily="49" charset="77"/>
              </a:rPr>
              <a:t> parameter, it calls the Flutter SDK’s </a:t>
            </a:r>
            <a:r>
              <a:rPr lang="en-US" dirty="0" err="1">
                <a:latin typeface="Inconsolata" pitchFamily="49" charset="77"/>
                <a:ea typeface="Inconsolata" pitchFamily="49" charset="77"/>
              </a:rPr>
              <a:t>ThemeData</a:t>
            </a:r>
            <a:r>
              <a:rPr lang="en-US" dirty="0">
                <a:ea typeface="Inconsolata" pitchFamily="49" charset="77"/>
              </a:rPr>
              <a:t> constructor which, in turn, calls a constructor named </a:t>
            </a:r>
            <a:r>
              <a:rPr lang="en-US" dirty="0">
                <a:latin typeface="Inconsolata" pitchFamily="49" charset="77"/>
                <a:ea typeface="Inconsolata" pitchFamily="49" charset="77"/>
              </a:rPr>
              <a:t>.</a:t>
            </a:r>
            <a:r>
              <a:rPr lang="en-US" dirty="0" err="1">
                <a:latin typeface="Inconsolata" pitchFamily="49" charset="77"/>
                <a:ea typeface="Inconsolata" pitchFamily="49" charset="77"/>
              </a:rPr>
              <a:t>fromSeed</a:t>
            </a:r>
            <a:r>
              <a:rPr lang="en-US" dirty="0">
                <a:ea typeface="Inconsolata" pitchFamily="49" charset="77"/>
              </a:rPr>
              <a:t>. The value of the </a:t>
            </a:r>
            <a:r>
              <a:rPr lang="en-US" dirty="0">
                <a:latin typeface="Inconsolata" pitchFamily="49" charset="77"/>
                <a:ea typeface="Inconsolata" pitchFamily="49" charset="77"/>
              </a:rPr>
              <a:t>.</a:t>
            </a:r>
            <a:r>
              <a:rPr lang="en-US" dirty="0" err="1">
                <a:latin typeface="Inconsolata" pitchFamily="49" charset="77"/>
                <a:ea typeface="Inconsolata" pitchFamily="49" charset="77"/>
              </a:rPr>
              <a:t>fromSeed</a:t>
            </a:r>
            <a:r>
              <a:rPr lang="en-US" dirty="0">
                <a:latin typeface="Inconsolata" pitchFamily="49" charset="77"/>
                <a:ea typeface="Inconsolata" pitchFamily="49" charset="77"/>
              </a:rPr>
              <a:t> </a:t>
            </a:r>
            <a:r>
              <a:rPr lang="en-US" dirty="0">
                <a:ea typeface="Inconsolata" pitchFamily="49" charset="77"/>
              </a:rPr>
              <a:t>constructor’s </a:t>
            </a:r>
            <a:r>
              <a:rPr lang="en-US" dirty="0" err="1">
                <a:latin typeface="Inconsolata" pitchFamily="49" charset="77"/>
                <a:ea typeface="Inconsolata" pitchFamily="49" charset="77"/>
              </a:rPr>
              <a:t>seedColor</a:t>
            </a:r>
            <a:r>
              <a:rPr lang="en-US" dirty="0">
                <a:ea typeface="Inconsolata" pitchFamily="49" charset="77"/>
              </a:rPr>
              <a:t> parameter is the constant </a:t>
            </a:r>
            <a:r>
              <a:rPr lang="en-US" dirty="0" err="1">
                <a:latin typeface="Inconsolata" pitchFamily="49" charset="77"/>
                <a:ea typeface="Inconsolata" pitchFamily="49" charset="77"/>
              </a:rPr>
              <a:t>deepPurple</a:t>
            </a:r>
            <a:r>
              <a:rPr lang="en-US" dirty="0">
                <a:ea typeface="Inconsolata" pitchFamily="49" charset="77"/>
              </a:rPr>
              <a:t>, which is defined inside the </a:t>
            </a:r>
            <a:r>
              <a:rPr lang="en-US" dirty="0">
                <a:latin typeface="Inconsolata" pitchFamily="49" charset="77"/>
                <a:ea typeface="Inconsolata" pitchFamily="49" charset="77"/>
              </a:rPr>
              <a:t>Colors</a:t>
            </a:r>
            <a:r>
              <a:rPr lang="en-US" dirty="0">
                <a:ea typeface="Inconsolata" pitchFamily="49" charset="77"/>
              </a:rPr>
              <a:t> class.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04C953-EEE2-702A-A540-D92B79CEA5F6}"/>
              </a:ext>
            </a:extLst>
          </p:cNvPr>
          <p:cNvSpPr txBox="1"/>
          <p:nvPr/>
        </p:nvSpPr>
        <p:spPr>
          <a:xfrm>
            <a:off x="5745296" y="4374325"/>
            <a:ext cx="6158429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ea typeface="Inconsolata" pitchFamily="49" charset="77"/>
              </a:rPr>
              <a:t>For the </a:t>
            </a:r>
            <a:r>
              <a:rPr lang="en-US" dirty="0">
                <a:latin typeface="Inconsolata" pitchFamily="49" charset="77"/>
                <a:ea typeface="Inconsolata" pitchFamily="49" charset="77"/>
              </a:rPr>
              <a:t>home</a:t>
            </a:r>
            <a:r>
              <a:rPr lang="en-US" dirty="0">
                <a:ea typeface="Inconsolata" pitchFamily="49" charset="77"/>
              </a:rPr>
              <a:t> parameter, it calls the </a:t>
            </a:r>
            <a:r>
              <a:rPr lang="en-US" dirty="0" err="1">
                <a:latin typeface="Inconsolata" pitchFamily="49" charset="77"/>
                <a:ea typeface="Inconsolata" pitchFamily="49" charset="77"/>
              </a:rPr>
              <a:t>MyHomePage</a:t>
            </a:r>
            <a:r>
              <a:rPr lang="en-US" dirty="0">
                <a:ea typeface="Inconsolata" pitchFamily="49" charset="77"/>
              </a:rPr>
              <a:t> constructor with the value of the constructor’s </a:t>
            </a:r>
            <a:r>
              <a:rPr lang="en-US" dirty="0">
                <a:latin typeface="Inconsolata" pitchFamily="49" charset="77"/>
                <a:ea typeface="Inconsolata" pitchFamily="49" charset="77"/>
              </a:rPr>
              <a:t>title</a:t>
            </a:r>
            <a:r>
              <a:rPr lang="en-US" dirty="0">
                <a:ea typeface="Inconsolata" pitchFamily="49" charset="77"/>
              </a:rPr>
              <a:t> parameter being </a:t>
            </a:r>
            <a:r>
              <a:rPr lang="en-US" dirty="0">
                <a:latin typeface="Inconsolata" pitchFamily="49" charset="77"/>
                <a:ea typeface="Inconsolata" pitchFamily="49" charset="77"/>
              </a:rPr>
              <a:t>'Flutter Demo Home Page’</a:t>
            </a:r>
            <a:r>
              <a:rPr lang="en-US" dirty="0">
                <a:ea typeface="Inconsolata" pitchFamily="49" charset="77"/>
              </a:rPr>
              <a:t>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8A7893B-9F2C-7619-7720-4E5EDE49DC63}"/>
              </a:ext>
            </a:extLst>
          </p:cNvPr>
          <p:cNvCxnSpPr>
            <a:cxnSpLocks/>
          </p:cNvCxnSpPr>
          <p:nvPr/>
        </p:nvCxnSpPr>
        <p:spPr>
          <a:xfrm flipH="1" flipV="1">
            <a:off x="3701667" y="4129622"/>
            <a:ext cx="1861851" cy="381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1765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516C1-E888-3184-3884-31392C4AD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A7467-CAD5-C0D7-D198-758DFF901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549" y="222227"/>
            <a:ext cx="10515600" cy="4109292"/>
          </a:xfrm>
        </p:spPr>
        <p:txBody>
          <a:bodyPr>
            <a:noAutofit/>
          </a:bodyPr>
          <a:lstStyle/>
          <a:p>
            <a:pPr marL="0" indent="0">
              <a:lnSpc>
                <a:spcPts val="120"/>
              </a:lnSpc>
              <a:spcBef>
                <a:spcPts val="0"/>
              </a:spcBef>
              <a:buNone/>
            </a:pPr>
            <a:r>
              <a:rPr lang="en-US" sz="2200" dirty="0">
                <a:latin typeface="Inconsolata" pitchFamily="49" charset="77"/>
                <a:ea typeface="Inconsolata" pitchFamily="49" charset="77"/>
              </a:rPr>
              <a:t>class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MyHomePage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 extends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StatefulWidget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latin typeface="Inconsolata" pitchFamily="49" charset="77"/>
                <a:ea typeface="Inconsolata" pitchFamily="49" charset="77"/>
              </a:rPr>
              <a:t>  const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MyHomePage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({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super.key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, required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this.title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});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latin typeface="Inconsolata" pitchFamily="49" charset="77"/>
                <a:ea typeface="Inconsolata" pitchFamily="49" charset="77"/>
              </a:rPr>
              <a:t>  final String title;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050" dirty="0">
              <a:latin typeface="Inconsolata" pitchFamily="49" charset="77"/>
              <a:ea typeface="Inconsolata" pitchFamily="49" charset="7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latin typeface="Inconsolata" pitchFamily="49" charset="77"/>
                <a:ea typeface="Inconsolata" pitchFamily="49" charset="77"/>
              </a:rPr>
              <a:t>  @override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latin typeface="Inconsolata" pitchFamily="49" charset="77"/>
                <a:ea typeface="Inconsolata" pitchFamily="49" charset="77"/>
              </a:rPr>
              <a:t>  State&lt;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MyHomePage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&gt;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createState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() =&gt; _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MyHomePageState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();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latin typeface="Inconsolata" pitchFamily="49" charset="77"/>
                <a:ea typeface="Inconsolata" pitchFamily="49" charset="77"/>
              </a:rPr>
              <a:t>}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>
              <a:latin typeface="Inconsolata" pitchFamily="49" charset="77"/>
              <a:ea typeface="Inconsolata" pitchFamily="49" charset="7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latin typeface="Inconsolata" pitchFamily="49" charset="77"/>
                <a:ea typeface="Inconsolata" pitchFamily="49" charset="77"/>
              </a:rPr>
              <a:t>class _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MyHomePageState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 extends State&lt;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MyHomePage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&gt;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latin typeface="Inconsolata" pitchFamily="49" charset="77"/>
                <a:ea typeface="Inconsolata" pitchFamily="49" charset="77"/>
              </a:rPr>
              <a:t>  int _counter = 0;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00" dirty="0">
              <a:latin typeface="Inconsolata" pitchFamily="49" charset="77"/>
              <a:ea typeface="Inconsolata" pitchFamily="49" charset="7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latin typeface="Inconsolata" pitchFamily="49" charset="77"/>
                <a:ea typeface="Inconsolata" pitchFamily="49" charset="77"/>
              </a:rPr>
              <a:t>  void _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incrementCounter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()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latin typeface="Inconsolata" pitchFamily="49" charset="77"/>
                <a:ea typeface="Inconsolata" pitchFamily="49" charset="77"/>
              </a:rPr>
              <a:t>   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setState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(()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_counter++;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latin typeface="Inconsolata" pitchFamily="49" charset="77"/>
                <a:ea typeface="Inconsolata" pitchFamily="49" charset="77"/>
              </a:rPr>
              <a:t>    });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latin typeface="Inconsolata" pitchFamily="49" charset="77"/>
                <a:ea typeface="Inconsolata" pitchFamily="49" charset="77"/>
              </a:rPr>
              <a:t>  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0597C-40AD-6C29-5C8E-4F7D0AB4CE68}"/>
              </a:ext>
            </a:extLst>
          </p:cNvPr>
          <p:cNvSpPr txBox="1"/>
          <p:nvPr/>
        </p:nvSpPr>
        <p:spPr>
          <a:xfrm>
            <a:off x="9588347" y="926046"/>
            <a:ext cx="199038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ea typeface="Inconsolata" pitchFamily="49" charset="77"/>
              </a:rPr>
              <a:t>Boilerplate code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ADFE691-4408-C3C2-D7D3-B275B7BFC858}"/>
              </a:ext>
            </a:extLst>
          </p:cNvPr>
          <p:cNvCxnSpPr>
            <a:cxnSpLocks/>
          </p:cNvCxnSpPr>
          <p:nvPr/>
        </p:nvCxnSpPr>
        <p:spPr>
          <a:xfrm flipH="1" flipV="1">
            <a:off x="8857561" y="1110712"/>
            <a:ext cx="730786" cy="62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Left Bracket 3">
            <a:extLst>
              <a:ext uri="{FF2B5EF4-FFF2-40B4-BE49-F238E27FC236}">
                <a16:creationId xmlns:a16="http://schemas.microsoft.com/office/drawing/2014/main" id="{5AD1A571-ED55-6D48-EA32-D1A422602ED1}"/>
              </a:ext>
            </a:extLst>
          </p:cNvPr>
          <p:cNvSpPr/>
          <p:nvPr/>
        </p:nvSpPr>
        <p:spPr>
          <a:xfrm flipH="1">
            <a:off x="6621136" y="134092"/>
            <a:ext cx="1990380" cy="3687350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0291440-78F4-FE6E-A0E5-8C0605BBF45F}"/>
              </a:ext>
            </a:extLst>
          </p:cNvPr>
          <p:cNvCxnSpPr>
            <a:cxnSpLocks/>
          </p:cNvCxnSpPr>
          <p:nvPr/>
        </p:nvCxnSpPr>
        <p:spPr>
          <a:xfrm flipH="1" flipV="1">
            <a:off x="2818482" y="5284269"/>
            <a:ext cx="730786" cy="62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427D4C0-06F2-AA49-ACEC-F5ED7DD3802A}"/>
              </a:ext>
            </a:extLst>
          </p:cNvPr>
          <p:cNvSpPr txBox="1"/>
          <p:nvPr/>
        </p:nvSpPr>
        <p:spPr>
          <a:xfrm>
            <a:off x="3626386" y="5099603"/>
            <a:ext cx="501634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ea typeface="Inconsolata" pitchFamily="49" charset="77"/>
              </a:rPr>
              <a:t>When describing an action to be taken, you must call </a:t>
            </a:r>
            <a:r>
              <a:rPr lang="en-US" dirty="0" err="1">
                <a:latin typeface="Inconsolata" pitchFamily="49" charset="77"/>
                <a:ea typeface="Inconsolata" pitchFamily="49" charset="77"/>
              </a:rPr>
              <a:t>setState</a:t>
            </a:r>
            <a:r>
              <a:rPr lang="en-US" dirty="0">
                <a:ea typeface="Inconsolata" pitchFamily="49" charset="77"/>
              </a:rPr>
              <a:t> and you must call it this way.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D0E3D0D-E34C-7A2A-287B-FDD3FF003072}"/>
              </a:ext>
            </a:extLst>
          </p:cNvPr>
          <p:cNvCxnSpPr>
            <a:cxnSpLocks/>
          </p:cNvCxnSpPr>
          <p:nvPr/>
        </p:nvCxnSpPr>
        <p:spPr>
          <a:xfrm flipH="1" flipV="1">
            <a:off x="2728511" y="5767175"/>
            <a:ext cx="820757" cy="2810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0F3C0B3-AC2D-1379-B201-BA0D4EA35A58}"/>
              </a:ext>
            </a:extLst>
          </p:cNvPr>
          <p:cNvSpPr txBox="1"/>
          <p:nvPr/>
        </p:nvSpPr>
        <p:spPr>
          <a:xfrm>
            <a:off x="3549268" y="5863594"/>
            <a:ext cx="460321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ea typeface="Inconsolata" pitchFamily="49" charset="77"/>
              </a:rPr>
              <a:t>An action to be taken.</a:t>
            </a:r>
          </a:p>
        </p:txBody>
      </p:sp>
    </p:spTree>
    <p:extLst>
      <p:ext uri="{BB962C8B-B14F-4D97-AF65-F5344CB8AC3E}">
        <p14:creationId xmlns:p14="http://schemas.microsoft.com/office/powerpoint/2010/main" val="1753385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87312-AA79-08D8-12A8-D3FBAD153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34D01-11BD-6764-20E1-F03A929CB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37" y="-76879"/>
            <a:ext cx="10515600" cy="4109292"/>
          </a:xfrm>
        </p:spPr>
        <p:txBody>
          <a:bodyPr>
            <a:noAutofit/>
          </a:bodyPr>
          <a:lstStyle/>
          <a:p>
            <a:pPr marL="0" indent="0">
              <a:lnSpc>
                <a:spcPts val="2600"/>
              </a:lnSpc>
              <a:spcBef>
                <a:spcPts val="0"/>
              </a:spcBef>
              <a:buNone/>
            </a:pPr>
            <a:r>
              <a:rPr lang="en-US" sz="2200" dirty="0">
                <a:latin typeface="Inconsolata" pitchFamily="49" charset="77"/>
                <a:ea typeface="Inconsolata" pitchFamily="49" charset="77"/>
              </a:rPr>
              <a:t> Widget build(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BuildContext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 context) {</a:t>
            </a:r>
          </a:p>
          <a:p>
            <a:pPr marL="0" indent="0">
              <a:lnSpc>
                <a:spcPts val="2600"/>
              </a:lnSpc>
              <a:spcBef>
                <a:spcPts val="0"/>
              </a:spcBef>
              <a:buNone/>
            </a:pPr>
            <a:r>
              <a:rPr lang="en-US" sz="2200" dirty="0">
                <a:latin typeface="Inconsolata" pitchFamily="49" charset="77"/>
                <a:ea typeface="Inconsolata" pitchFamily="49" charset="77"/>
              </a:rPr>
              <a:t>    return Scaffold(</a:t>
            </a:r>
          </a:p>
          <a:p>
            <a:pPr marL="0" indent="0">
              <a:lnSpc>
                <a:spcPts val="2600"/>
              </a:lnSpc>
              <a:spcBef>
                <a:spcPts val="0"/>
              </a:spcBef>
              <a:buNone/>
            </a:pP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body: Center(</a:t>
            </a:r>
          </a:p>
          <a:p>
            <a:pPr marL="0" indent="0">
              <a:lnSpc>
                <a:spcPts val="2600"/>
              </a:lnSpc>
              <a:spcBef>
                <a:spcPts val="0"/>
              </a:spcBef>
              <a:buNone/>
            </a:pP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  child: Column(</a:t>
            </a:r>
          </a:p>
          <a:p>
            <a:pPr marL="0" indent="0">
              <a:lnSpc>
                <a:spcPts val="2600"/>
              </a:lnSpc>
              <a:spcBef>
                <a:spcPts val="0"/>
              </a:spcBef>
              <a:buNone/>
            </a:pP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   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mainAxisAlignment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: .center,</a:t>
            </a:r>
          </a:p>
          <a:p>
            <a:pPr marL="0" indent="0">
              <a:lnSpc>
                <a:spcPts val="2600"/>
              </a:lnSpc>
              <a:spcBef>
                <a:spcPts val="0"/>
              </a:spcBef>
              <a:buNone/>
            </a:pP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    children: [</a:t>
            </a:r>
          </a:p>
          <a:p>
            <a:pPr marL="0" indent="0">
              <a:lnSpc>
                <a:spcPts val="2600"/>
              </a:lnSpc>
              <a:spcBef>
                <a:spcPts val="0"/>
              </a:spcBef>
              <a:buNone/>
            </a:pP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      const Text('You have pushed the button this many times:'),</a:t>
            </a:r>
          </a:p>
          <a:p>
            <a:pPr marL="0" indent="0">
              <a:lnSpc>
                <a:spcPts val="2600"/>
              </a:lnSpc>
              <a:spcBef>
                <a:spcPts val="0"/>
              </a:spcBef>
              <a:buNone/>
            </a:pP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      Text(</a:t>
            </a:r>
          </a:p>
          <a:p>
            <a:pPr marL="0" indent="0">
              <a:lnSpc>
                <a:spcPts val="2600"/>
              </a:lnSpc>
              <a:spcBef>
                <a:spcPts val="0"/>
              </a:spcBef>
              <a:buNone/>
            </a:pP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        '$_counter',</a:t>
            </a:r>
          </a:p>
          <a:p>
            <a:pPr marL="0" indent="0">
              <a:lnSpc>
                <a:spcPts val="2600"/>
              </a:lnSpc>
              <a:spcBef>
                <a:spcPts val="0"/>
              </a:spcBef>
              <a:buNone/>
            </a:pP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        style: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Theme.of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(context).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textTheme.headlineMedium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,</a:t>
            </a:r>
          </a:p>
          <a:p>
            <a:pPr marL="0" indent="0">
              <a:lnSpc>
                <a:spcPts val="2600"/>
              </a:lnSpc>
              <a:spcBef>
                <a:spcPts val="0"/>
              </a:spcBef>
              <a:buNone/>
            </a:pP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      ),</a:t>
            </a:r>
          </a:p>
          <a:p>
            <a:pPr marL="0" indent="0">
              <a:lnSpc>
                <a:spcPts val="2600"/>
              </a:lnSpc>
              <a:spcBef>
                <a:spcPts val="0"/>
              </a:spcBef>
              <a:buNone/>
            </a:pP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    ],</a:t>
            </a:r>
          </a:p>
          <a:p>
            <a:pPr marL="0" indent="0">
              <a:lnSpc>
                <a:spcPts val="2600"/>
              </a:lnSpc>
              <a:spcBef>
                <a:spcPts val="0"/>
              </a:spcBef>
              <a:buNone/>
            </a:pP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  ),</a:t>
            </a:r>
          </a:p>
          <a:p>
            <a:pPr marL="0" indent="0">
              <a:lnSpc>
                <a:spcPts val="2600"/>
              </a:lnSpc>
              <a:spcBef>
                <a:spcPts val="0"/>
              </a:spcBef>
              <a:buNone/>
            </a:pP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),</a:t>
            </a:r>
          </a:p>
          <a:p>
            <a:pPr marL="0" indent="0">
              <a:lnSpc>
                <a:spcPts val="2600"/>
              </a:lnSpc>
              <a:spcBef>
                <a:spcPts val="0"/>
              </a:spcBef>
              <a:buNone/>
            </a:pP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floatingActionButton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: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FloatingActionButton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(</a:t>
            </a:r>
          </a:p>
          <a:p>
            <a:pPr marL="0" indent="0">
              <a:lnSpc>
                <a:spcPts val="2600"/>
              </a:lnSpc>
              <a:spcBef>
                <a:spcPts val="0"/>
              </a:spcBef>
              <a:buNone/>
            </a:pP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  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onPressed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: _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incrementCounter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,</a:t>
            </a:r>
          </a:p>
          <a:p>
            <a:pPr marL="0" indent="0">
              <a:lnSpc>
                <a:spcPts val="2600"/>
              </a:lnSpc>
              <a:spcBef>
                <a:spcPts val="0"/>
              </a:spcBef>
              <a:buNone/>
            </a:pP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  tooltip: 'Increment',</a:t>
            </a:r>
          </a:p>
          <a:p>
            <a:pPr marL="0" indent="0">
              <a:lnSpc>
                <a:spcPts val="2600"/>
              </a:lnSpc>
              <a:spcBef>
                <a:spcPts val="0"/>
              </a:spcBef>
              <a:buNone/>
            </a:pP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  child: const Icon(</a:t>
            </a:r>
            <a:r>
              <a:rPr lang="en-US" sz="2200" dirty="0" err="1">
                <a:latin typeface="Inconsolata" pitchFamily="49" charset="77"/>
                <a:ea typeface="Inconsolata" pitchFamily="49" charset="77"/>
              </a:rPr>
              <a:t>Icons.add</a:t>
            </a:r>
            <a:r>
              <a:rPr lang="en-US" sz="2200" dirty="0">
                <a:latin typeface="Inconsolata" pitchFamily="49" charset="77"/>
                <a:ea typeface="Inconsolata" pitchFamily="49" charset="77"/>
              </a:rPr>
              <a:t>),</a:t>
            </a:r>
          </a:p>
          <a:p>
            <a:pPr marL="0" indent="0">
              <a:lnSpc>
                <a:spcPts val="2600"/>
              </a:lnSpc>
              <a:spcBef>
                <a:spcPts val="0"/>
              </a:spcBef>
              <a:buNone/>
            </a:pPr>
            <a:r>
              <a:rPr lang="en-US" sz="2200" dirty="0">
                <a:latin typeface="Inconsolata" pitchFamily="49" charset="77"/>
                <a:ea typeface="Inconsolata" pitchFamily="49" charset="77"/>
              </a:rPr>
              <a:t>      ),</a:t>
            </a:r>
          </a:p>
          <a:p>
            <a:pPr marL="0" indent="0">
              <a:lnSpc>
                <a:spcPts val="2600"/>
              </a:lnSpc>
              <a:spcBef>
                <a:spcPts val="0"/>
              </a:spcBef>
              <a:buNone/>
            </a:pPr>
            <a:r>
              <a:rPr lang="en-US" sz="2200" dirty="0">
                <a:latin typeface="Inconsolata" pitchFamily="49" charset="77"/>
                <a:ea typeface="Inconsolata" pitchFamily="49" charset="77"/>
              </a:rPr>
              <a:t>    );</a:t>
            </a:r>
          </a:p>
          <a:p>
            <a:pPr marL="0" indent="0">
              <a:lnSpc>
                <a:spcPts val="2600"/>
              </a:lnSpc>
              <a:spcBef>
                <a:spcPts val="0"/>
              </a:spcBef>
              <a:buNone/>
            </a:pPr>
            <a:r>
              <a:rPr lang="en-US" sz="2200" dirty="0">
                <a:latin typeface="Inconsolata" pitchFamily="49" charset="77"/>
                <a:ea typeface="Inconsolata" pitchFamily="49" charset="77"/>
              </a:rPr>
              <a:t>  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90CF91-DABA-2FCC-495B-765135589940}"/>
              </a:ext>
            </a:extLst>
          </p:cNvPr>
          <p:cNvSpPr txBox="1"/>
          <p:nvPr/>
        </p:nvSpPr>
        <p:spPr>
          <a:xfrm>
            <a:off x="6202496" y="113418"/>
            <a:ext cx="5464367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ea typeface="Inconsolata" pitchFamily="49" charset="77"/>
              </a:rPr>
              <a:t>A </a:t>
            </a:r>
            <a:r>
              <a:rPr lang="en-US" dirty="0">
                <a:latin typeface="Inconsolata" pitchFamily="49" charset="77"/>
                <a:ea typeface="Inconsolata" pitchFamily="49" charset="77"/>
              </a:rPr>
              <a:t>Scaffold</a:t>
            </a:r>
            <a:r>
              <a:rPr lang="en-US" dirty="0">
                <a:ea typeface="Inconsolata" pitchFamily="49" charset="77"/>
              </a:rPr>
              <a:t> object has some handy pre-built things, like a </a:t>
            </a:r>
            <a:r>
              <a:rPr lang="en-US" dirty="0">
                <a:latin typeface="Inconsolata" pitchFamily="49" charset="77"/>
                <a:ea typeface="Inconsolata" pitchFamily="49" charset="77"/>
              </a:rPr>
              <a:t>body</a:t>
            </a:r>
            <a:r>
              <a:rPr lang="en-US" dirty="0">
                <a:ea typeface="Inconsolata" pitchFamily="49" charset="77"/>
              </a:rPr>
              <a:t> and a </a:t>
            </a:r>
            <a:r>
              <a:rPr lang="en-US" dirty="0" err="1">
                <a:latin typeface="Inconsolata" pitchFamily="49" charset="77"/>
                <a:ea typeface="Inconsolata" pitchFamily="49" charset="77"/>
              </a:rPr>
              <a:t>floatingActionButton</a:t>
            </a:r>
            <a:r>
              <a:rPr lang="en-US" dirty="0">
                <a:ea typeface="Inconsolata" pitchFamily="49" charset="77"/>
              </a:rPr>
              <a:t>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EDEA992-DF60-EC68-1741-83C81B5E32D0}"/>
              </a:ext>
            </a:extLst>
          </p:cNvPr>
          <p:cNvCxnSpPr>
            <a:cxnSpLocks/>
          </p:cNvCxnSpPr>
          <p:nvPr/>
        </p:nvCxnSpPr>
        <p:spPr>
          <a:xfrm flipH="1">
            <a:off x="3194892" y="341523"/>
            <a:ext cx="3007604" cy="1412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C241423-52CA-A9F5-7BBF-BEDA0CDD6D39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2796448" y="830362"/>
            <a:ext cx="3406048" cy="3939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ED12437-6E77-2E2F-5EAA-DDEC150AD081}"/>
              </a:ext>
            </a:extLst>
          </p:cNvPr>
          <p:cNvSpPr txBox="1"/>
          <p:nvPr/>
        </p:nvSpPr>
        <p:spPr>
          <a:xfrm>
            <a:off x="6202496" y="901152"/>
            <a:ext cx="3899055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ea typeface="Inconsolata" pitchFamily="49" charset="77"/>
              </a:rPr>
              <a:t>The </a:t>
            </a:r>
            <a:r>
              <a:rPr lang="en-US" dirty="0">
                <a:latin typeface="Inconsolata" pitchFamily="49" charset="77"/>
                <a:ea typeface="Inconsolata" pitchFamily="49" charset="77"/>
              </a:rPr>
              <a:t>Scaffold</a:t>
            </a:r>
            <a:r>
              <a:rPr lang="en-US" dirty="0">
                <a:ea typeface="Inconsolata" pitchFamily="49" charset="77"/>
              </a:rPr>
              <a:t> object’s body consists of a </a:t>
            </a:r>
            <a:r>
              <a:rPr lang="en-US" dirty="0">
                <a:latin typeface="Inconsolata" pitchFamily="49" charset="77"/>
                <a:ea typeface="Inconsolata" pitchFamily="49" charset="77"/>
              </a:rPr>
              <a:t>Center</a:t>
            </a:r>
            <a:r>
              <a:rPr lang="en-US" dirty="0">
                <a:ea typeface="Inconsolata" pitchFamily="49" charset="77"/>
              </a:rPr>
              <a:t>ing layout widget.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F9B9ABF-4913-7FFE-6481-92CC214068D2}"/>
              </a:ext>
            </a:extLst>
          </p:cNvPr>
          <p:cNvCxnSpPr>
            <a:cxnSpLocks/>
          </p:cNvCxnSpPr>
          <p:nvPr/>
        </p:nvCxnSpPr>
        <p:spPr>
          <a:xfrm flipH="1" flipV="1">
            <a:off x="3283944" y="1193013"/>
            <a:ext cx="3899054" cy="24425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2FE165A-C6B1-E9D9-DEF2-53ECBC38EE13}"/>
              </a:ext>
            </a:extLst>
          </p:cNvPr>
          <p:cNvSpPr txBox="1"/>
          <p:nvPr/>
        </p:nvSpPr>
        <p:spPr>
          <a:xfrm>
            <a:off x="7182998" y="3456872"/>
            <a:ext cx="4803354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ea typeface="Inconsolata" pitchFamily="49" charset="77"/>
              </a:rPr>
              <a:t>The </a:t>
            </a:r>
            <a:r>
              <a:rPr lang="en-US" dirty="0">
                <a:latin typeface="Inconsolata" pitchFamily="49" charset="77"/>
                <a:ea typeface="Inconsolata" pitchFamily="49" charset="77"/>
              </a:rPr>
              <a:t>Center</a:t>
            </a:r>
            <a:r>
              <a:rPr lang="en-US" dirty="0">
                <a:ea typeface="Inconsolata" pitchFamily="49" charset="77"/>
              </a:rPr>
              <a:t> object’s only </a:t>
            </a:r>
            <a:r>
              <a:rPr lang="en-US" dirty="0">
                <a:latin typeface="Inconsolata" pitchFamily="49" charset="77"/>
                <a:ea typeface="Inconsolata" pitchFamily="49" charset="77"/>
              </a:rPr>
              <a:t>child</a:t>
            </a:r>
            <a:r>
              <a:rPr lang="en-US" dirty="0">
                <a:ea typeface="Inconsolata" pitchFamily="49" charset="77"/>
              </a:rPr>
              <a:t> is a layout widget that arranges its </a:t>
            </a:r>
            <a:r>
              <a:rPr lang="en-US" dirty="0">
                <a:latin typeface="Inconsolata" pitchFamily="49" charset="77"/>
                <a:ea typeface="Inconsolata" pitchFamily="49" charset="77"/>
              </a:rPr>
              <a:t>children</a:t>
            </a:r>
            <a:r>
              <a:rPr lang="en-US" dirty="0">
                <a:ea typeface="Inconsolata" pitchFamily="49" charset="77"/>
              </a:rPr>
              <a:t> in a column.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34C678B-F59A-A549-3BA5-093C6435F950}"/>
              </a:ext>
            </a:extLst>
          </p:cNvPr>
          <p:cNvCxnSpPr>
            <a:cxnSpLocks/>
          </p:cNvCxnSpPr>
          <p:nvPr/>
        </p:nvCxnSpPr>
        <p:spPr>
          <a:xfrm flipH="1" flipV="1">
            <a:off x="3059476" y="1977767"/>
            <a:ext cx="4387926" cy="26493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0AD1F2F-35A9-67D8-501A-D05A4BED91F1}"/>
              </a:ext>
            </a:extLst>
          </p:cNvPr>
          <p:cNvSpPr txBox="1"/>
          <p:nvPr/>
        </p:nvSpPr>
        <p:spPr>
          <a:xfrm>
            <a:off x="7447402" y="4411037"/>
            <a:ext cx="3136135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ea typeface="Inconsolata" pitchFamily="49" charset="77"/>
              </a:rPr>
              <a:t>The </a:t>
            </a:r>
            <a:r>
              <a:rPr lang="en-US" dirty="0">
                <a:latin typeface="Inconsolata" pitchFamily="49" charset="77"/>
                <a:ea typeface="Inconsolata" pitchFamily="49" charset="77"/>
              </a:rPr>
              <a:t>Column</a:t>
            </a:r>
            <a:r>
              <a:rPr lang="en-US" dirty="0">
                <a:ea typeface="Inconsolata" pitchFamily="49" charset="77"/>
              </a:rPr>
              <a:t> object’s </a:t>
            </a:r>
            <a:r>
              <a:rPr lang="en-US" dirty="0">
                <a:latin typeface="Inconsolata" pitchFamily="49" charset="77"/>
                <a:ea typeface="Inconsolata" pitchFamily="49" charset="77"/>
              </a:rPr>
              <a:t>children</a:t>
            </a:r>
            <a:r>
              <a:rPr lang="en-US" dirty="0">
                <a:ea typeface="Inconsolata" pitchFamily="49" charset="77"/>
              </a:rPr>
              <a:t> is a list of </a:t>
            </a:r>
            <a:r>
              <a:rPr lang="en-US" dirty="0">
                <a:latin typeface="Inconsolata" pitchFamily="49" charset="77"/>
                <a:ea typeface="Inconsolata" pitchFamily="49" charset="77"/>
              </a:rPr>
              <a:t>Text</a:t>
            </a:r>
            <a:r>
              <a:rPr lang="en-US" dirty="0">
                <a:ea typeface="Inconsolata" pitchFamily="49" charset="77"/>
              </a:rPr>
              <a:t> widgets.</a:t>
            </a:r>
          </a:p>
        </p:txBody>
      </p:sp>
    </p:spTree>
    <p:extLst>
      <p:ext uri="{BB962C8B-B14F-4D97-AF65-F5344CB8AC3E}">
        <p14:creationId xmlns:p14="http://schemas.microsoft.com/office/powerpoint/2010/main" val="3747878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A3C69E3-728E-EA99-9A37-463833B895DB}"/>
              </a:ext>
            </a:extLst>
          </p:cNvPr>
          <p:cNvSpPr txBox="1"/>
          <p:nvPr/>
        </p:nvSpPr>
        <p:spPr>
          <a:xfrm>
            <a:off x="8637224" y="1972019"/>
            <a:ext cx="33793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Flutter Inspector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Then look at the device screen.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C93898-023A-D3C6-6814-2E57ED022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7224" y="2341351"/>
            <a:ext cx="2374900" cy="533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54793C-AFAD-34AF-1F5B-8C5AED0D7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227" y="0"/>
            <a:ext cx="30555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078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1071</Words>
  <Application>Microsoft Macintosh PowerPoint</Application>
  <PresentationFormat>Widescreen</PresentationFormat>
  <Paragraphs>75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Inconsolata</vt:lpstr>
      <vt:lpstr>Office Theme</vt:lpstr>
      <vt:lpstr>Sample Flutter App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Barry Burd</dc:creator>
  <cp:lastModifiedBy>Barry Burd</cp:lastModifiedBy>
  <cp:revision>7</cp:revision>
  <dcterms:created xsi:type="dcterms:W3CDTF">2026-09-03T19:14:10Z</dcterms:created>
  <dcterms:modified xsi:type="dcterms:W3CDTF">2026-09-03T20:38:28Z</dcterms:modified>
</cp:coreProperties>
</file>